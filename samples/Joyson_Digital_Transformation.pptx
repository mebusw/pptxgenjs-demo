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18770660439-4636190af475" ContentType="image/photo-1518770660439-4636190af475"/>
  <Default Extension="photo-1581091226825-a6a2a5aee158" ContentType="image/photo-1581091226825-a6a2a5aee158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各项成本数据实时化程度预估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自动化程度</c:v>
                </c:pt>
              </c:strCache>
            </c:strRef>
          </c:tx>
          <c:spPr>
            <a:solidFill>
              <a:srgbClr val="0033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人工(Labor)</c:v>
                  </c:pt>
                  <c:pt idx="1">
                    <c:v>物料(Mat.)</c:v>
                  </c:pt>
                  <c:pt idx="2">
                    <c:v>能源(Energy)</c:v>
                  </c:pt>
                  <c:pt idx="3">
                    <c:v>运维(Maint.)</c:v>
                  </c:pt>
                  <c:pt idx="4">
                    <c:v>质量(COPQ)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85</c:v>
                </c:pt>
                <c:pt idx="2">
                  <c:v>60</c:v>
                </c:pt>
                <c:pt idx="3">
                  <c:v>30</c:v>
                </c:pt>
                <c:pt idx="4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成本类别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自动化百分比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_MASTER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18770660439-4636190af47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81091226825-a6a2a5aee158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18770660439-4636190af475?q=80&amp;w=1920&amp;auto=format&amp;fit=cro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均胜工厂数字化转型与TOC实时监控架构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从数据孤岛到基于MQTT的实时智能决策系统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汇报人：数字化转型团队 | 时间：2025年11月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Visuals Prompt: Abstract digital network connecting factory machines, blue and white theme, high tech style.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项目背景：COO的核心诉求与现状痛点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当前痛点 (Current Pain Points)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数据滞后：依赖月度财务报表，数据严重滞后，无法指导实时生产。</a:t>
            </a:r>
            <a:endParaRPr lang="en-US" sz="1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系统孤岛：SAP, HR, WMS各管一摊，存在大量手工Excel台账。</a:t>
            </a:r>
            <a:endParaRPr lang="en-US" sz="1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基础薄弱：缺乏统一的底层数据总线，无法支撑AI分析。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 (Core Objectives)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TOC实时化：实现Total Operation Cost的实时可视化与管理。</a:t>
            </a:r>
            <a:endParaRPr lang="en-US" sz="1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数据驱动：将运营KPI缩短至秒级更新，辅助管理层快速决策。</a:t>
            </a:r>
            <a:endParaRPr lang="en-US" sz="1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架构统一：建立标准化的实时数据总线。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Visuals Prompt: Comparison illustration: A stack of paper reports vs a futuristic glowing real-time dashboard on a tablet.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技术架构转型：MQTT + Edge Computing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0" y="1645920"/>
            <a:ext cx="1828800" cy="137160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Broker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(Publish/Subscribe)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828800" cy="914400"/>
          </a:xfrm>
          <a:prstGeom prst="round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/ PLC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(Source Data)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2194560"/>
            <a:ext cx="914400" cy="274320"/>
          </a:xfrm>
          <a:prstGeom prst="rightArrow">
            <a:avLst/>
          </a:prstGeom>
          <a:solidFill>
            <a:srgbClr val="007ACC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1188720"/>
            <a:ext cx="1828800" cy="731520"/>
          </a:xfrm>
          <a:prstGeom prst="round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(Real-time View)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-1200000">
            <a:off x="5577840" y="1463040"/>
            <a:ext cx="914400" cy="182880"/>
          </a:xfrm>
          <a:prstGeom prst="rightArrow">
            <a:avLst/>
          </a:prstGeom>
          <a:solidFill>
            <a:srgbClr val="007ACC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743200"/>
            <a:ext cx="1828800" cy="731520"/>
          </a:xfrm>
          <a:prstGeom prst="round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History 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(Analysis)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1200000">
            <a:off x="5577840" y="3017520"/>
            <a:ext cx="914400" cy="182880"/>
          </a:xfrm>
          <a:prstGeom prst="rightArrow">
            <a:avLst/>
          </a:prstGeom>
          <a:solidFill>
            <a:srgbClr val="007AC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架构优势与机制：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边缘驱动：工位产生原始数据，Edge端订阅并清洗。</a:t>
            </a:r>
            <a:endParaRPr lang="en-US" sz="12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轻量高效：摒弃传统轮询(Polling)，数据变化即推送，节省带宽。</a:t>
            </a:r>
            <a:endParaRPr lang="en-US" sz="1200" dirty="0"/>
          </a:p>
          <a:p>
            <a:pPr marL="254000" indent="-254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层级结构：Enterprise -&gt; Factory -&gt; Line -&gt; Station -&gt; Topic。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Visuals Prompt: Technical architecture diagram. Center: MQTT Broker. Left: PLC/Sensors. Right: Dashboard/DB. Arrows showing flow.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核心配置逻辑：Manifest与MongoDB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(工艺清单)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定义产品工艺路线、工位逻辑及防错规则。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配置下发至产线，驱动生产流程。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MongoDB (非结构化存储)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适应工业数据结构多变需求（如随时增加新传感器字段）。</a:t>
            </a:r>
            <a:endParaRPr lang="en-US" sz="1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OPS模式：增加字段不影响旧数据。</a:t>
            </a:r>
            <a:endParaRPr lang="en-US" sz="1400" dirty="0"/>
          </a:p>
        </p:txBody>
      </p:sp>
      <p:pic>
        <p:nvPicPr>
          <p:cNvPr id="7" name="Image 0" descr="https://images.unsplash.com/photo-1581091226825-a6a2a5aee158?q=80&amp;w=1000&amp;auto=format&amp;fit=cro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Visuals Prompt: A JSON document icon labeled 'Manifest' transforming into physical production steps on a conveyor belt.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TOC数据拆解：变动成本 (Variable Costs)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2926080"/>
          </a:xfrm>
          <a:prstGeom prst="roundRect">
            <a:avLst/>
          </a:prstGeom>
          <a:solidFill>
            <a:srgbClr val="E6F3FF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人工成本 (Labor Cost)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数据源：HR系统 + 产线IOT打卡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HR系统管理进出厂考勤（获取总工时）。</a:t>
            </a:r>
            <a:endParaRPr lang="en-US" sz="12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产线设备记录具体工位上岗时间（获取直接工时）。</a:t>
            </a:r>
            <a:endParaRPr lang="en-US" sz="12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两者结合实现精确的人员效率分析。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2926080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物料成本 (Material Cost)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数据源：SAP BOM + 扫码枪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3774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基于Manifest中的BOM配置进行校验。</a:t>
            </a:r>
            <a:endParaRPr lang="en-US" sz="12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通过扫码枪验证物料并自动扣减。</a:t>
            </a:r>
            <a:endParaRPr lang="en-US" sz="12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实时计算产线物料消耗与剩余量。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Visuals Prompt: Icons representing a worker scanning a badge and a raw material box being scanned.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TOC数据拆解：固定与隐性成本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数据采集挑战与方案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 (Energy): 部分新工厂上线智能电表MQTT上传；老旧设备月度分摊。</a:t>
            </a:r>
            <a:endParaRPr lang="en-US" sz="1200" dirty="0"/>
          </a:p>
          <a:p>
            <a:pPr marL="254000" indent="-2540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运维费用 (Maintenance): 备件消耗多为线下Excel，计划数字化。</a:t>
            </a:r>
            <a:endParaRPr lang="en-US" sz="1200" dirty="0"/>
          </a:p>
          <a:p>
            <a:pPr marL="254000" indent="-2540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质量成本 (COPQ): 废品/返工目前依赖人工录入。</a:t>
            </a:r>
            <a:endParaRPr lang="en-US" sz="1200" dirty="0"/>
          </a:p>
          <a:p>
            <a:pPr marL="254000" indent="-2540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固定资产 (Fixed Assets): 按月度固定分摊。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303520" y="13716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828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Visuals Prompt: Digital electric meter displaying live numbers; a warning icon for scrap/maintenance.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系统集成版图与边界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0" y="1097280"/>
            <a:ext cx="54864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97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(ERP Core)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808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管理BOM、计划、财务及主数据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89120" y="1920240"/>
            <a:ext cx="365760" cy="365760"/>
          </a:xfrm>
          <a:prstGeom prst="upDownArrow">
            <a:avLst/>
          </a:prstGeom>
          <a:solidFill>
            <a:srgbClr val="95A5A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2377440"/>
            <a:ext cx="2560320" cy="73152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 (车间管理)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54880" y="2377440"/>
            <a:ext cx="2560320" cy="73152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 (仓储物流)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98080" y="23774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SIM: 工单执行 | LESS: 线边物流
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3200400"/>
            <a:ext cx="365760" cy="365760"/>
          </a:xfrm>
          <a:prstGeom prst="upDownArrow">
            <a:avLst/>
          </a:prstGeom>
          <a:solidFill>
            <a:srgbClr val="95A5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Factory Floor (MQTT + Edge)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98080" y="3657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实时产线数据采集
Kafka/中间表异步交互
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Visuals Prompt: Integration map. Top: SAP. Middle: SIM &amp; LESS. Bottom: Factory Floor. Connected via bus.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下一步规划与展望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2560320" cy="1371600"/>
          </a:xfrm>
          <a:prstGeom prst="chevron">
            <a:avLst/>
          </a:prstGeom>
          <a:solidFill>
            <a:srgbClr val="007AC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系统标准化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淘汰'简道云'等临时工具，建立统一软件工程规范。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560320" cy="1371600"/>
          </a:xfrm>
          <a:prstGeom prst="chevron">
            <a:avLst/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全面推广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472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从POC概念验证走向全工厂标准化复制。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286000"/>
            <a:ext cx="2560320" cy="1371600"/>
          </a:xfrm>
          <a:prstGeom prst="chevron">
            <a:avLst/>
          </a:prstGeom>
          <a:solidFill>
            <a:srgbClr val="FF8C0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AI赋能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792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利用MQTT历史数据训练AI，分析能耗与设备状态相关性。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Visuals Prompt: Roadmap illustration with stepping stones: 'Standardization', 'Promotion', 'AI Integration'.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Joyson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Joyson Factory Digital Transformation</dc:title>
  <dc:subject>TOC Real-time Architecture</dc:subject>
  <dc:creator>Digital Transformation Team</dc:creator>
  <cp:lastModifiedBy>Digital Transformation Team</cp:lastModifiedBy>
  <cp:revision>1</cp:revision>
  <dcterms:created xsi:type="dcterms:W3CDTF">2025-11-22T00:14:38Z</dcterms:created>
  <dcterms:modified xsi:type="dcterms:W3CDTF">2025-11-22T00:14:38Z</dcterms:modified>
</cp:coreProperties>
</file>